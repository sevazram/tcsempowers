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79" r:id="rId6"/>
    <p:sldId id="281" r:id="rId7"/>
    <p:sldId id="261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82" r:id="rId17"/>
    <p:sldId id="283" r:id="rId18"/>
    <p:sldId id="284" r:id="rId19"/>
    <p:sldId id="271" r:id="rId20"/>
    <p:sldId id="277" r:id="rId21"/>
    <p:sldId id="286" r:id="rId22"/>
    <p:sldId id="289" r:id="rId23"/>
    <p:sldId id="287" r:id="rId24"/>
    <p:sldId id="288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2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Presentación inicial. Explica que el objetivo no es memorizar toda la sintaxis, sino entender el flujo de trabajo de un notebook y practicar conceptos fundamentales. Duración sugerida: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Presenta los objetivos como resultados observables. Aclara que se parte de conocimientos básicos de programación, por lo que el foco será aplicar conceptos en un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Conecta Python con lenguajes que el grupo ya conozca. Python no es lo mismo que Colab: Python es el lenguaje; Colab es un entorno donde podemos ejecutarlo.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Evita presentarlos como dos lenguajes o como herramientas completamente distintas. Jupyter es un ecosistema/proyecto; Colab es un servicio hospedado que usa el formato de notebook. Para esta sesión usaremos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sugerido: 1–2 minutos. Descarga desde el sitio oficial. Anaconda Distribution incluye Python, Conda y herramientas como Jupyter Notebook. Requiere varios GB de espacio.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308B-7319-93EA-598B-F7F0D4C6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99139-6E90-2B31-8AEA-F25EC1768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D8574-04B7-F012-D5EB-77C334786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 sugerido: 1–2 minutos. Descarga desde el sitio oficial. Anaconda Distribution incluye Python, Conda y herramientas como Jupyter Notebook. Requiere varios GB de espacio.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5F1F8-10EE-6285-9701-6DC15CE11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6081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Demuestra Shift+Enter. Explica que la última expresión de una celda puede mostrarse como salida aunque no tenga print(). Señala que reiniciar el runtime borra variables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Señala que True/False distinguen mayúsculas. Comenta que input() devuelve texto y que a veces hay que convertir con int() o float().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Pide predecir el resultado antes de ejecutar. Explica que / produce división decimal, // división entera y % residuo.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Conecta las listas con el análisis posterior. Advierte que acceder a un índice inexistente produce IndexError.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5303-F569-5E08-DC2F-DDB25B20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DBB3B-B1A8-FB3C-84CA-85FC687C3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6BE2-FD7C-6E1C-5577-E29CDE87C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Conecta las listas con el análisis posterior. Advierte que acceder a un índice inexistente produce IndexError.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5614F-BAF6-63D6-0B51-DBB5EDACD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5984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Cambia nota a 65 y vuelve a ejecutar. Pregunta por qué la indentación es parte de la sintaxis y no solo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Usa for como patrón preferido cuando ya se conoce la colección que se quiere recorrer. range(3) genera 0, 1,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 minutos. Diferencia print() de return: print muestra; return entrega un valor que se puede reutilizar. En producción convendría validar que la lista no esté vacía.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En Colab normalmente Pandas ya está instalado. Ejecuta la celda y describe filas como registros y columnas como variables/campos.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7BAF-1B69-93DA-717F-E78F2865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C9EDB-1848-3548-CD8E-D8F571404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AC549-D425-55F0-05FF-9627404D9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Explica que df[condición] filtra filas. En este ejemplo el promedio es 1075. Muestra que Pandas permite expresar análisis de forma compacta.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28B73-7838-F0A4-E4A6-C225594F3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06394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8FBF-FDB6-0FF5-5321-1F673EB1A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8B040-4DEC-E9BF-4C99-4007F40E5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2E634-EACF-6880-1131-7311A0429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Explica que df[condición] filtra filas. En este ejemplo el promedio es 1075. Muestra que Pandas permite expresar análisis de forma compacta.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0E5B3-81E5-A0A1-B5FD-FD7F682A1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10181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B92D-1D16-4AB6-2AB6-B710D92F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B86E9-3884-0644-C5A4-E6979A02F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61E90-7598-BB5A-65DA-E4CA7472D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3 minutos. Explica que df[condición] filtra filas. En este ejemplo el promedio es 1075. Muestra que Pandas permite expresar análisis de forma compacta.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87853-9905-4DF4-C621-3D14165CF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682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6 minutos. Deja que intenten resolverlo. Si se atascan, ofrece pistas: pd.DataFrame, sum(), filtro df[df['unidades'] &gt;= 10] y una función con if/else. La solución está en el notebook de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5BFA-E623-3092-D005-44BF9403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0796F-3F30-3478-BF03-0F5776646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31AE5-ACD3-EB1A-0ACD-7F40E4B58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 esta diapositiva después de que los participantes intenten el reto. Resultado total: 40 unidades. Productos filtrados: Cuaderno y Mochila. La columna inventario se crea aplicando la función a cada valor de unidades.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27C18-C43D-CF48-3A50-54FD46ACB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0306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830F-97B8-C2FF-70F7-979ECC09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3090D-C3A1-2ECB-A4B8-3E250C3B3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FF097-BE6A-59DF-A5EF-BC324710A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 esta diapositiva después de que los participantes intenten el reto. Resultado total: 40 unidades. Productos filtrados: Cuaderno y Mochila. La columna inventario se crea aplicando la función a cada valor de unidades.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FC248-9077-3512-8762-FBCCC3279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08101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ADC1-4E12-CA1B-E71E-1AC3B109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2F0F9-AD18-CDAC-BC47-A5810A05E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31E42-0F9C-9861-01A6-CAC30B337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 esta diapositiva después de que los participantes intenten el reto. Resultado total: 40 unidades. Productos filtrados: Cuaderno y Mochila. La columna inventario se crea aplicando la función a cada valor de unidades.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E9EA0-A5C6-B777-4E54-3C82E8898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38843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6579-7C97-624D-D4C2-10043522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6767C-8A34-E6E3-FDAF-235D00D7C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1C976-8FCD-0D25-D034-C1A39A630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Muestra un error de forma intencional si hay tiempo. Normaliza los errores como parte del proceso de aprender y depurar.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B458B-3251-FAB2-8EB6-B7FFC269B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27854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ED43-D7E5-3A3F-6638-D480AB65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A9360-8B19-C630-30E9-1A90A3E5D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126D0-8914-9C87-BC36-B3CE0C774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Muestra un error de forma intencional si hay tiempo. Normaliza los errores como parte del proceso de aprender y depurar.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49159-930E-177B-C8C9-2D0236964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4921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2 minutos. Cierra pidiendo a una persona que explique la diferencia entre Jupyter y Colab y a otra que describa qué hace un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eetcode.com/" TargetMode="External"/><Relationship Id="rId3" Type="http://schemas.openxmlformats.org/officeDocument/2006/relationships/hyperlink" Target="https://colab.research.google.com/" TargetMode="External"/><Relationship Id="rId7" Type="http://schemas.openxmlformats.org/officeDocument/2006/relationships/hyperlink" Target="https://jupyter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ndas.pydata.org/docs/" TargetMode="External"/><Relationship Id="rId5" Type="http://schemas.openxmlformats.org/officeDocument/2006/relationships/hyperlink" Target="https://docs.python.org/3/tutorial/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anaconda.org/" TargetMode="Externa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Basic Notebook</a:t>
            </a:r>
          </a:p>
          <a:p>
            <a:pPr>
              <a:spcAft>
                <a:spcPts val="7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con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DCE6F5"/>
                </a:solidFill>
                <a:latin typeface="Aptos"/>
              </a:defRPr>
            </a:pPr>
            <a:r>
              <a:t>De las celdas de código al análisis de datos con Pandas</a:t>
            </a:r>
          </a:p>
        </p:txBody>
      </p:sp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E83E86FF-8D6D-09F5-D52F-A332AD9FE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6C72C63-26F2-B6CE-88CD-CA904A533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4414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Objetivos</a:t>
            </a:r>
            <a:r>
              <a:rPr dirty="0"/>
              <a:t> de </a:t>
            </a:r>
            <a:r>
              <a:rPr dirty="0" err="1"/>
              <a:t>aprendizaje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BASIC NOTEBOOK CON PYTHON  •  MATERIAL DIDÁCTICO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Reconocer qué es Python y para qué se utiliza.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Distinguir Jupyter Notebook de Google Colab.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Ejecutar celdas de código y documentar ideas con Markdown.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Usar variables, tipos de datos, operadores, condicionales y ciclos.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Crear funciones y analizar una tabla sencilla con Pandas.</a:t>
            </a:r>
          </a:p>
        </p:txBody>
      </p:sp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C57F06DA-8EDA-2EDD-EDCF-B848010F9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BB93D88-4D1F-02FF-2BE6-C79423A29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82016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/>
              <a:t>Python: el </a:t>
            </a:r>
            <a:r>
              <a:rPr dirty="0" err="1"/>
              <a:t>lenguaje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2171" y="1466267"/>
            <a:ext cx="1097280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rPr sz="2000" dirty="0"/>
              <a:t>•  Su </a:t>
            </a:r>
            <a:r>
              <a:rPr sz="2000" dirty="0" err="1"/>
              <a:t>sintaxis</a:t>
            </a:r>
            <a:r>
              <a:rPr sz="2000" dirty="0"/>
              <a:t> legible </a:t>
            </a:r>
            <a:r>
              <a:rPr sz="2000" dirty="0" err="1"/>
              <a:t>facilita</a:t>
            </a:r>
            <a:r>
              <a:rPr sz="2000" dirty="0"/>
              <a:t> </a:t>
            </a:r>
            <a:r>
              <a:rPr sz="2000" dirty="0" err="1"/>
              <a:t>aprender</a:t>
            </a:r>
            <a:r>
              <a:rPr sz="2000" dirty="0"/>
              <a:t>, </a:t>
            </a:r>
            <a:r>
              <a:rPr sz="2000" dirty="0" err="1"/>
              <a:t>automatizar</a:t>
            </a:r>
            <a:r>
              <a:rPr sz="2000" dirty="0"/>
              <a:t> </a:t>
            </a:r>
            <a:r>
              <a:rPr sz="2000" dirty="0" err="1"/>
              <a:t>tareas</a:t>
            </a:r>
            <a:r>
              <a:rPr sz="2000" dirty="0"/>
              <a:t> y </a:t>
            </a:r>
            <a:r>
              <a:rPr sz="2000" dirty="0" err="1"/>
              <a:t>analizar</a:t>
            </a:r>
            <a:r>
              <a:rPr sz="2000" dirty="0"/>
              <a:t> datos.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rPr sz="2000" dirty="0"/>
              <a:t>•  Se </a:t>
            </a:r>
            <a:r>
              <a:rPr sz="2000" dirty="0" err="1"/>
              <a:t>usa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desarrollo</a:t>
            </a:r>
            <a:r>
              <a:rPr sz="2000" dirty="0"/>
              <a:t> web, scripting, </a:t>
            </a:r>
            <a:r>
              <a:rPr sz="2000" dirty="0" err="1"/>
              <a:t>ciencia</a:t>
            </a:r>
            <a:r>
              <a:rPr sz="2000" dirty="0"/>
              <a:t> de </a:t>
            </a:r>
            <a:r>
              <a:rPr sz="2000" dirty="0" err="1"/>
              <a:t>datos</a:t>
            </a:r>
            <a:r>
              <a:rPr sz="2000" dirty="0"/>
              <a:t>, IA y </a:t>
            </a:r>
            <a:r>
              <a:rPr sz="2000" dirty="0" err="1"/>
              <a:t>pruebas</a:t>
            </a:r>
            <a:r>
              <a:rPr sz="2000" dirty="0"/>
              <a:t>.</a:t>
            </a:r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rPr sz="2000" dirty="0"/>
              <a:t>•  Un notebook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combinar</a:t>
            </a:r>
            <a:r>
              <a:rPr sz="2000" dirty="0"/>
              <a:t> </a:t>
            </a:r>
            <a:r>
              <a:rPr sz="2000" dirty="0" err="1"/>
              <a:t>código</a:t>
            </a:r>
            <a:r>
              <a:rPr sz="2000" dirty="0"/>
              <a:t>, </a:t>
            </a:r>
            <a:r>
              <a:rPr sz="2000" dirty="0" err="1"/>
              <a:t>texto</a:t>
            </a:r>
            <a:r>
              <a:rPr sz="2000" dirty="0"/>
              <a:t>, </a:t>
            </a:r>
            <a:r>
              <a:rPr sz="2000" dirty="0" err="1"/>
              <a:t>resultados</a:t>
            </a:r>
            <a:r>
              <a:rPr sz="2000" dirty="0"/>
              <a:t> y </a:t>
            </a:r>
            <a:r>
              <a:rPr sz="2000" dirty="0" err="1"/>
              <a:t>visualizaciones</a:t>
            </a:r>
            <a:r>
              <a:rPr sz="2000" dirty="0"/>
              <a:t>.</a:t>
            </a:r>
            <a:endParaRPr lang="es-ES" sz="2000" dirty="0"/>
          </a:p>
          <a:p>
            <a:pPr>
              <a:spcAft>
                <a:spcPts val="13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rPr lang="es-ES" sz="2000" b="1" dirty="0"/>
              <a:t>RECURSOS</a:t>
            </a:r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 Google </a:t>
            </a:r>
            <a:r>
              <a:rPr lang="es-ES" sz="2000" dirty="0" err="1"/>
              <a:t>Colab</a:t>
            </a:r>
            <a:r>
              <a:rPr lang="es-ES" sz="2000" dirty="0"/>
              <a:t>: </a:t>
            </a:r>
            <a:r>
              <a:rPr lang="es-ES" sz="2000" dirty="0">
                <a:hlinkClick r:id="rId3"/>
              </a:rPr>
              <a:t>https://colab.research.google.com/</a:t>
            </a:r>
            <a:endParaRPr lang="es-ES" sz="2000" dirty="0"/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Instalar Anaconda </a:t>
            </a:r>
            <a:r>
              <a:rPr lang="es-ES" sz="2000" dirty="0">
                <a:hlinkClick r:id="rId4"/>
              </a:rPr>
              <a:t>https://anaconda.org/</a:t>
            </a:r>
            <a:endParaRPr lang="es-ES" sz="2000" dirty="0"/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 •  Documentación de Python: </a:t>
            </a:r>
            <a:r>
              <a:rPr lang="es-ES" sz="2000" dirty="0">
                <a:hlinkClick r:id="rId5"/>
              </a:rPr>
              <a:t>https://docs.python.org/3/tutorial/</a:t>
            </a:r>
            <a:endParaRPr lang="es-ES" sz="2000" dirty="0"/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 Documentación de Pandas: </a:t>
            </a:r>
            <a:r>
              <a:rPr lang="es-ES" sz="2000" dirty="0">
                <a:hlinkClick r:id="rId6"/>
              </a:rPr>
              <a:t>https://pandas.pydata.org/docs/</a:t>
            </a:r>
            <a:endParaRPr lang="es-ES" sz="2000" dirty="0"/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 </a:t>
            </a:r>
            <a:r>
              <a:rPr lang="es-ES" sz="2000" dirty="0" err="1"/>
              <a:t>Jupyter</a:t>
            </a:r>
            <a:r>
              <a:rPr lang="es-ES" sz="2000" dirty="0"/>
              <a:t>: </a:t>
            </a:r>
            <a:r>
              <a:rPr lang="es-ES" sz="2000" dirty="0">
                <a:hlinkClick r:id="rId7"/>
              </a:rPr>
              <a:t>https://jupyter.org/</a:t>
            </a:r>
            <a:endParaRPr lang="es-ES" sz="2000" dirty="0"/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 Paso recomendado: cargar un CSV real y practicar limpieza y visualización.</a:t>
            </a:r>
          </a:p>
          <a:p>
            <a:pPr>
              <a:spcAft>
                <a:spcPts val="13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rPr lang="es-ES" sz="2000" dirty="0"/>
              <a:t>• Pagina para practicar entrevistas </a:t>
            </a:r>
            <a:r>
              <a:rPr lang="es-ES" sz="2000" dirty="0">
                <a:hlinkClick r:id="rId8"/>
              </a:rPr>
              <a:t>https://leetcode.com/</a:t>
            </a:r>
            <a:endParaRPr lang="es-ES" sz="2000" dirty="0"/>
          </a:p>
        </p:txBody>
      </p:sp>
      <p:pic>
        <p:nvPicPr>
          <p:cNvPr id="9" name="Imagen 8" descr="Sticker Tata Logo">
            <a:extLst>
              <a:ext uri="{FF2B5EF4-FFF2-40B4-BE49-F238E27FC236}">
                <a16:creationId xmlns:a16="http://schemas.microsoft.com/office/drawing/2014/main" id="{29F6BE2A-6FB7-6D88-F79C-3F9D9E25A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6C2E4D2-D950-6A0C-9F20-230FE9D2115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18819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Entorno de Desarrollo Anaconda y </a:t>
            </a:r>
            <a:r>
              <a:rPr lang="es-ES" dirty="0" err="1"/>
              <a:t>GoogleColab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729595"/>
            <a:ext cx="5683521" cy="4249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</a:t>
            </a:r>
            <a:r>
              <a:rPr lang="es-ES" dirty="0"/>
              <a:t> </a:t>
            </a:r>
            <a:r>
              <a:rPr dirty="0"/>
              <a:t>  </a:t>
            </a:r>
            <a:r>
              <a:rPr lang="es-MX" dirty="0">
                <a:solidFill>
                  <a:srgbClr val="28303C"/>
                </a:solidFill>
                <a:latin typeface="Aptos"/>
              </a:rPr>
              <a:t>Anaconda es una distribución diseñada para ciencia de datos, análisis de información y aprendizaje automático.</a:t>
            </a:r>
            <a:endParaRPr lang="es-ES" dirty="0"/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lang="es-ES" dirty="0"/>
              <a:t>•  Google </a:t>
            </a:r>
            <a:r>
              <a:rPr lang="es-ES" dirty="0" err="1"/>
              <a:t>Colab</a:t>
            </a:r>
            <a:r>
              <a:rPr lang="es-ES" dirty="0"/>
              <a:t>: servicio alojado en la nube basado en notebooks de </a:t>
            </a:r>
            <a:r>
              <a:rPr lang="es-ES" dirty="0" err="1"/>
              <a:t>Jupyter</a:t>
            </a:r>
            <a:r>
              <a:rPr lang="es-ES"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lang="es-ES" dirty="0"/>
              <a:t>• </a:t>
            </a:r>
            <a:r>
              <a:rPr dirty="0"/>
              <a:t>Jupyter Notebook: </a:t>
            </a:r>
            <a:r>
              <a:rPr dirty="0" err="1"/>
              <a:t>aplicación</a:t>
            </a:r>
            <a:r>
              <a:rPr dirty="0"/>
              <a:t> y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interactivo</a:t>
            </a:r>
            <a:r>
              <a:rPr dirty="0"/>
              <a:t> para </a:t>
            </a:r>
            <a:r>
              <a:rPr dirty="0" err="1"/>
              <a:t>trabajar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celdas</a:t>
            </a:r>
            <a:r>
              <a:rPr dirty="0"/>
              <a:t>;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ejecutarse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Colab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</a:t>
            </a:r>
            <a:r>
              <a:rPr dirty="0" err="1"/>
              <a:t>empezar</a:t>
            </a:r>
            <a:r>
              <a:rPr dirty="0"/>
              <a:t> sin </a:t>
            </a:r>
            <a:r>
              <a:rPr dirty="0" err="1"/>
              <a:t>instalar</a:t>
            </a:r>
            <a:r>
              <a:rPr dirty="0"/>
              <a:t> Python y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guardar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Google Drive.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En ambos se </a:t>
            </a:r>
            <a:r>
              <a:rPr dirty="0" err="1"/>
              <a:t>combinan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, </a:t>
            </a:r>
            <a:r>
              <a:rPr dirty="0" err="1"/>
              <a:t>texto</a:t>
            </a:r>
            <a:r>
              <a:rPr dirty="0"/>
              <a:t> Markdown, </a:t>
            </a:r>
            <a:r>
              <a:rPr dirty="0" err="1"/>
              <a:t>resultados</a:t>
            </a:r>
            <a:r>
              <a:rPr dirty="0"/>
              <a:t> y </a:t>
            </a:r>
            <a:r>
              <a:rPr dirty="0" err="1"/>
              <a:t>gráficos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0239470-01C6-F427-7FC7-9287D7DE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65" y="1560924"/>
            <a:ext cx="4193667" cy="2092143"/>
          </a:xfrm>
          <a:prstGeom prst="rect">
            <a:avLst/>
          </a:prstGeom>
        </p:spPr>
      </p:pic>
      <p:pic>
        <p:nvPicPr>
          <p:cNvPr id="16" name="Imagen 15" descr="portada.png">
            <a:extLst>
              <a:ext uri="{FF2B5EF4-FFF2-40B4-BE49-F238E27FC236}">
                <a16:creationId xmlns:a16="http://schemas.microsoft.com/office/drawing/2014/main" id="{ECAE7F33-4637-0498-C547-B89BA7881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465" y="4019426"/>
            <a:ext cx="4257675" cy="1891341"/>
          </a:xfrm>
          <a:prstGeom prst="rect">
            <a:avLst/>
          </a:prstGeom>
        </p:spPr>
      </p:pic>
      <p:pic>
        <p:nvPicPr>
          <p:cNvPr id="9" name="Imagen 8" descr="Sticker Tata Logo">
            <a:extLst>
              <a:ext uri="{FF2B5EF4-FFF2-40B4-BE49-F238E27FC236}">
                <a16:creationId xmlns:a16="http://schemas.microsoft.com/office/drawing/2014/main" id="{496D15EB-BD32-1C6A-F1F5-F13134C0C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EBBC0E5-71E8-3EE1-7646-82D1CB5676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4A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4620" y="9875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93E70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Descarga</a:t>
            </a:r>
            <a:r>
              <a:rPr dirty="0"/>
              <a:t> Anaconda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C607C"/>
                </a:solidFill>
                <a:latin typeface="Aptos"/>
              </a:defRPr>
            </a:pPr>
            <a:r>
              <a:rPr lang="es-ES" dirty="0"/>
              <a:t>5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89626" y="1643670"/>
            <a:ext cx="4172512" cy="3767328"/>
          </a:xfrm>
          <a:prstGeom prst="roundRect">
            <a:avLst/>
          </a:prstGeom>
          <a:solidFill>
            <a:srgbClr val="E7F3FF"/>
          </a:solidFill>
          <a:ln>
            <a:solidFill>
              <a:srgbClr val="D3E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4620" y="1643670"/>
            <a:ext cx="4172512" cy="475488"/>
          </a:xfrm>
          <a:prstGeom prst="roundRect">
            <a:avLst/>
          </a:prstGeom>
          <a:solidFill>
            <a:srgbClr val="2670CA"/>
          </a:solidFill>
          <a:ln>
            <a:solidFill>
              <a:srgbClr val="26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288" y="1716822"/>
            <a:ext cx="4007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PASO 1 · ABRIR LA PÁGINA OFICIAL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506" y="2265462"/>
            <a:ext cx="37048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r>
              <a:rPr dirty="0"/>
              <a:t>1. Abre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navegador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r>
              <a:rPr dirty="0"/>
              <a:t>2. Visita </a:t>
            </a:r>
            <a:r>
              <a:rPr lang="es-MX" dirty="0"/>
              <a:t>https://www.anaconda.com/docs/main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Busca</a:t>
            </a:r>
            <a:r>
              <a:rPr dirty="0"/>
              <a:t> </a:t>
            </a:r>
            <a:r>
              <a:rPr lang="es-ES" dirty="0"/>
              <a:t> </a:t>
            </a:r>
            <a:r>
              <a:rPr lang="es-ES" dirty="0" err="1"/>
              <a:t>Install</a:t>
            </a:r>
            <a:r>
              <a:rPr lang="es-ES" dirty="0"/>
              <a:t> Anaconda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192D4E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Selecciona</a:t>
            </a:r>
            <a:r>
              <a:rPr dirty="0"/>
              <a:t> el </a:t>
            </a:r>
            <a:r>
              <a:rPr dirty="0" err="1"/>
              <a:t>instalador</a:t>
            </a:r>
            <a:r>
              <a:rPr dirty="0"/>
              <a:t> de Windows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corresponda</a:t>
            </a:r>
            <a:r>
              <a:rPr dirty="0"/>
              <a:t> a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9FBBB06-4A5D-57DF-B0C0-66781E1C9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73" y="2265463"/>
            <a:ext cx="7443101" cy="2632894"/>
          </a:xfrm>
          <a:prstGeom prst="rect">
            <a:avLst/>
          </a:prstGeom>
        </p:spPr>
      </p:pic>
      <p:pic>
        <p:nvPicPr>
          <p:cNvPr id="11" name="Imagen 10" descr="Sticker Tata Logo">
            <a:extLst>
              <a:ext uri="{FF2B5EF4-FFF2-40B4-BE49-F238E27FC236}">
                <a16:creationId xmlns:a16="http://schemas.microsoft.com/office/drawing/2014/main" id="{BBDC94D8-E032-1718-93E9-6F2134104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FE17335-3285-66B7-E1B3-9D870E2E97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05FC-CE44-6A9A-DDA2-826556C1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97677B-6547-0446-9052-7D6B78B0F102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4A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769AD-1955-1BF1-2A25-CF69E2D9A007}"/>
              </a:ext>
            </a:extLst>
          </p:cNvPr>
          <p:cNvSpPr txBox="1"/>
          <p:nvPr/>
        </p:nvSpPr>
        <p:spPr>
          <a:xfrm>
            <a:off x="11064240" y="6510528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C607C"/>
                </a:solidFill>
                <a:latin typeface="Aptos"/>
              </a:defRPr>
            </a:pPr>
            <a:r>
              <a:rPr lang="es-ES" dirty="0"/>
              <a:t>6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3A671-BF44-4D4E-3E3D-BA1A62FA56C5}"/>
              </a:ext>
            </a:extLst>
          </p:cNvPr>
          <p:cNvSpPr txBox="1"/>
          <p:nvPr/>
        </p:nvSpPr>
        <p:spPr>
          <a:xfrm>
            <a:off x="249288" y="1716822"/>
            <a:ext cx="4007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PASO 1 · ABRIR LA PÁGINA OFICIAL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14267D8-D6CD-BC78-CBB4-8F1E1B9984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0"/>
          <a:stretch>
            <a:fillRect/>
          </a:stretch>
        </p:blipFill>
        <p:spPr>
          <a:xfrm>
            <a:off x="249288" y="1029074"/>
            <a:ext cx="11585219" cy="4616971"/>
          </a:xfrm>
          <a:prstGeom prst="rect">
            <a:avLst/>
          </a:prstGeom>
          <a:ln>
            <a:noFill/>
          </a:ln>
        </p:spPr>
      </p:pic>
      <p:pic>
        <p:nvPicPr>
          <p:cNvPr id="4" name="Imagen 3" descr="Sticker Tata Logo">
            <a:extLst>
              <a:ext uri="{FF2B5EF4-FFF2-40B4-BE49-F238E27FC236}">
                <a16:creationId xmlns:a16="http://schemas.microsoft.com/office/drawing/2014/main" id="{4002814E-6D52-0EA9-2576-B3A0F863C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701AB83-65AD-6B1E-8E5A-22F4E3B1B7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4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46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Anatomía</a:t>
            </a:r>
            <a:r>
              <a:rPr dirty="0"/>
              <a:t> de un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7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D19ED40-AAEC-DD9F-6464-2E978BD2E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17" y="1207008"/>
            <a:ext cx="8430802" cy="5096586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9BCA6655-287D-FEE5-8075-5D54EDC04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C23250F-8CC9-956F-886D-9B23013D0C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8253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Variables y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básicos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09CB49D-5AF2-DF04-DAED-10C27661F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5"/>
          <a:stretch>
            <a:fillRect/>
          </a:stretch>
        </p:blipFill>
        <p:spPr>
          <a:xfrm>
            <a:off x="2443396" y="1071860"/>
            <a:ext cx="6928179" cy="5224009"/>
          </a:xfrm>
          <a:prstGeom prst="rect">
            <a:avLst/>
          </a:prstGeom>
        </p:spPr>
      </p:pic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DFF39980-1A04-F40A-DFBE-45250A9B6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85507DE-0FED-8480-247B-D46B2908E0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9240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Operadores</a:t>
            </a:r>
            <a:r>
              <a:rPr dirty="0"/>
              <a:t> y </a:t>
            </a:r>
            <a:r>
              <a:rPr dirty="0" err="1"/>
              <a:t>expresiones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421BF39-955D-AA8C-8B4A-303337E14F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574" b="31200"/>
          <a:stretch>
            <a:fillRect/>
          </a:stretch>
        </p:blipFill>
        <p:spPr>
          <a:xfrm>
            <a:off x="459128" y="1234440"/>
            <a:ext cx="5297095" cy="47183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2033784-2643-B503-32DF-FAF50EBC8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16" r="-1655"/>
          <a:stretch>
            <a:fillRect/>
          </a:stretch>
        </p:blipFill>
        <p:spPr>
          <a:xfrm>
            <a:off x="5244059" y="1499616"/>
            <a:ext cx="6488813" cy="204014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0A14A10-7F09-4732-95E7-D14D1E246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408"/>
          <a:stretch>
            <a:fillRect/>
          </a:stretch>
        </p:blipFill>
        <p:spPr>
          <a:xfrm>
            <a:off x="6095847" y="3912604"/>
            <a:ext cx="3924848" cy="2458488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84CE3211-0F02-24D6-08D1-30A35919E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7709D3B-BD4F-089E-65CB-CF18F4B685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666" y="81020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Colecciones</a:t>
            </a:r>
            <a:r>
              <a:rPr dirty="0"/>
              <a:t>: </a:t>
            </a:r>
            <a:r>
              <a:rPr dirty="0" err="1"/>
              <a:t>listas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9E351EE-B8D9-07D6-37D0-F0C9E7E86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87" y="1527048"/>
            <a:ext cx="6432670" cy="44809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8BC427B-B29A-719C-CD18-2806A42AC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881" y="1792224"/>
            <a:ext cx="4372585" cy="4258269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3FF83901-E64C-9EEB-6C8A-FC4170A82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0313494-F99B-564F-555A-471222950A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492C-58F5-16D2-5D08-E7E50C8B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45F5EA-361C-ABE7-7709-93E83FE48223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12619-F29D-4E0C-B03D-2988BE79558B}"/>
              </a:ext>
            </a:extLst>
          </p:cNvPr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BASIC NOTEBOOK CON PYTHON  •  MATERIAL DIDÁCTICO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DFA4F-AE16-C64F-7C29-57E896C6BFC9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1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16260F0-9F85-14EB-A686-953A1B39F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1" b="23052"/>
          <a:stretch>
            <a:fillRect/>
          </a:stretch>
        </p:blipFill>
        <p:spPr>
          <a:xfrm>
            <a:off x="1363827" y="987852"/>
            <a:ext cx="9464040" cy="4882296"/>
          </a:xfrm>
          <a:prstGeom prst="rect">
            <a:avLst/>
          </a:prstGeom>
        </p:spPr>
      </p:pic>
      <p:pic>
        <p:nvPicPr>
          <p:cNvPr id="4" name="Imagen 3" descr="Sticker Tata Logo">
            <a:extLst>
              <a:ext uri="{FF2B5EF4-FFF2-40B4-BE49-F238E27FC236}">
                <a16:creationId xmlns:a16="http://schemas.microsoft.com/office/drawing/2014/main" id="{438013AE-6BA4-57D4-77FC-239397E73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EDD451-6FEC-3335-932E-3353333E61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08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572322"/>
            <a:ext cx="9875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Flujos de control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2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CEC4651-8EEE-E38C-1652-A7591174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88" y="1095542"/>
            <a:ext cx="4198532" cy="564379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0FA460-02C4-E8D5-43E0-81AEE72BF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476" y="1137318"/>
            <a:ext cx="4030849" cy="5646991"/>
          </a:xfrm>
          <a:prstGeom prst="rect">
            <a:avLst/>
          </a:prstGeom>
        </p:spPr>
      </p:pic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DADC6567-0484-1979-F595-695AA69D5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5D4B5E-5855-29C2-A621-608B6BF4B0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5164" y="88675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Diccionarios en </a:t>
            </a:r>
            <a:r>
              <a:rPr lang="es-ES" dirty="0" err="1"/>
              <a:t>python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3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4D67F93-80B3-3EDE-862A-EDA8213F7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4567"/>
            <a:ext cx="6015514" cy="419551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58E5BFD-8374-1771-2F75-EEF1063B2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145" y="1574567"/>
            <a:ext cx="4706007" cy="4706007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6100B036-237F-1E37-6C90-5FC147D45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2AC9DD5-10D6-8C7E-3E2A-5AA0D3D31D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1" y="88359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Funciones</a:t>
            </a:r>
            <a:r>
              <a:rPr dirty="0"/>
              <a:t>: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reutilizable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4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063078D-5E1E-6BC8-C660-C699D704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834" y="1477950"/>
            <a:ext cx="8421275" cy="4725059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5D841CBC-235E-2250-88A2-0665A9138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A88A52-6D4A-6A09-FEEA-172F316541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4525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/>
              <a:t>Pandas: </a:t>
            </a:r>
            <a:r>
              <a:rPr dirty="0" err="1"/>
              <a:t>trabajar</a:t>
            </a:r>
            <a:r>
              <a:rPr dirty="0"/>
              <a:t> con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tabulares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5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384F3DE-17F6-98F8-B7D4-C990912A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93" y="1187148"/>
            <a:ext cx="8146546" cy="5223320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0CB4DBCB-D800-30DC-3E38-B2852AB54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A9F745B-EB6E-07C3-850A-259F214368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9D81E-0E26-8F1C-4665-3C4121C2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918F30-19F0-507F-E45C-D10873FC83E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465F7-F760-150F-155A-9D4E72A8E5AE}"/>
              </a:ext>
            </a:extLst>
          </p:cNvPr>
          <p:cNvSpPr txBox="1"/>
          <p:nvPr/>
        </p:nvSpPr>
        <p:spPr>
          <a:xfrm>
            <a:off x="435164" y="622303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Explorar</a:t>
            </a:r>
            <a:r>
              <a:rPr dirty="0"/>
              <a:t> y </a:t>
            </a:r>
            <a:r>
              <a:rPr dirty="0" err="1"/>
              <a:t>filtrar</a:t>
            </a:r>
            <a:r>
              <a:rPr dirty="0"/>
              <a:t> con Pandas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5E060-A072-444D-704C-B2D8BB30DE92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6</a:t>
            </a:r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301E1A1-39FC-4AA6-5125-B17D6F29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414" y="1143000"/>
            <a:ext cx="6916115" cy="5201376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AF569201-8DA6-7CC5-AB78-7729FF0B2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1A3F04-3A09-B1E4-D9CB-4DF3B3A779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7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83FD-F85E-451E-CBBE-D9C651AE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BE1A97-C1B8-4436-D92B-60F38DA35D86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32663-EE6C-5272-4C98-13075A5154E2}"/>
              </a:ext>
            </a:extLst>
          </p:cNvPr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Explorar</a:t>
            </a:r>
            <a:r>
              <a:rPr dirty="0"/>
              <a:t> y </a:t>
            </a:r>
            <a:r>
              <a:rPr dirty="0" err="1"/>
              <a:t>filtrar</a:t>
            </a:r>
            <a:r>
              <a:rPr dirty="0"/>
              <a:t> con Pandas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5C5EC-39A1-2341-D2AE-D516762BE931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7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7E9D18-318D-A57B-084B-B6414FA42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001" y="1207008"/>
            <a:ext cx="5363691" cy="5225342"/>
          </a:xfrm>
          <a:prstGeom prst="rect">
            <a:avLst/>
          </a:prstGeom>
        </p:spPr>
      </p:pic>
      <p:pic>
        <p:nvPicPr>
          <p:cNvPr id="9" name="Imagen 8" descr="Sticker Tata Logo">
            <a:extLst>
              <a:ext uri="{FF2B5EF4-FFF2-40B4-BE49-F238E27FC236}">
                <a16:creationId xmlns:a16="http://schemas.microsoft.com/office/drawing/2014/main" id="{AA076679-4B5E-9685-81B8-4C2DBD432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68B8B6D-FFAB-1E6F-5953-9152A1F526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6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E03E-281F-D207-44A3-F9FABD41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BDB780-8937-E6F1-AC73-975E63068EA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E5B25-E38D-A95A-4822-0A6549959EFE}"/>
              </a:ext>
            </a:extLst>
          </p:cNvPr>
          <p:cNvSpPr txBox="1"/>
          <p:nvPr/>
        </p:nvSpPr>
        <p:spPr>
          <a:xfrm>
            <a:off x="609447" y="60908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Operaciones comunes en pandas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8AEA6-883B-98F0-7347-A879464E699B}"/>
              </a:ext>
            </a:extLst>
          </p:cNvPr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72DCBD0-BE6B-4D93-B935-0014BB5C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06" y="1200472"/>
            <a:ext cx="4772205" cy="551272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30DEA79-7A8F-CCB8-DD1C-B90B9CC1F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211" y="1005602"/>
            <a:ext cx="3278636" cy="5822716"/>
          </a:xfrm>
          <a:prstGeom prst="rect">
            <a:avLst/>
          </a:prstGeom>
        </p:spPr>
      </p:pic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6A19441F-ADC6-24F8-889D-7973D56DA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3F0CF51-B57F-7316-43D9-E52DD6B0AD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5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7180" y="9326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/>
              <a:t>Reto </a:t>
            </a:r>
            <a:r>
              <a:rPr dirty="0" err="1"/>
              <a:t>práctico</a:t>
            </a:r>
            <a:r>
              <a:rPr dirty="0"/>
              <a:t>: mini </a:t>
            </a:r>
            <a:r>
              <a:rPr dirty="0" err="1"/>
              <a:t>análisis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dirty="0"/>
              <a:t>1</a:t>
            </a:r>
            <a:r>
              <a:rPr lang="es-ES" dirty="0"/>
              <a:t>8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B52D00-DB63-4D92-60C6-295415FEC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407" y="1617595"/>
            <a:ext cx="9614393" cy="4518995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A33B3ADB-5843-69D2-D876-21618BE5F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D33ECB6-2E91-353E-12BE-B0774F086D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8F6B-5375-DF41-F75D-447D69EB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0BF009-5B9B-B24F-F250-A6CAB8F4525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3C450-93B3-21FE-A1E0-A2DFE11DE7F9}"/>
              </a:ext>
            </a:extLst>
          </p:cNvPr>
          <p:cNvSpPr txBox="1"/>
          <p:nvPr/>
        </p:nvSpPr>
        <p:spPr>
          <a:xfrm>
            <a:off x="435164" y="691311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Solución</a:t>
            </a:r>
            <a:r>
              <a:rPr dirty="0"/>
              <a:t> del </a:t>
            </a:r>
            <a:r>
              <a:rPr dirty="0" err="1"/>
              <a:t>reto</a:t>
            </a:r>
            <a:r>
              <a:rPr dirty="0"/>
              <a:t> </a:t>
            </a:r>
            <a:r>
              <a:rPr dirty="0" err="1"/>
              <a:t>práctico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F7252-F3B4-C7F4-3D72-35306F4C9F45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20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2A03430-BC8C-8B60-A93C-031EAE882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00" y="1435098"/>
            <a:ext cx="5885446" cy="5091546"/>
          </a:xfrm>
          <a:prstGeom prst="rect">
            <a:avLst/>
          </a:prstGeom>
        </p:spPr>
      </p:pic>
      <p:pic>
        <p:nvPicPr>
          <p:cNvPr id="8" name="Imagen 7" descr="Sticker Tata Logo">
            <a:extLst>
              <a:ext uri="{FF2B5EF4-FFF2-40B4-BE49-F238E27FC236}">
                <a16:creationId xmlns:a16="http://schemas.microsoft.com/office/drawing/2014/main" id="{A93BBC81-3F80-7C85-1A1B-54D2001A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8C7F0A8-EAEC-3F84-B0DA-ABA5CD5EBD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6ED8-4673-FB27-FF8A-DA368919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7CFAC-EDAB-E83B-82DA-EC6C329C5E7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71627-3ADB-3C85-17FB-DD6AA0C81087}"/>
              </a:ext>
            </a:extLst>
          </p:cNvPr>
          <p:cNvSpPr txBox="1"/>
          <p:nvPr/>
        </p:nvSpPr>
        <p:spPr>
          <a:xfrm>
            <a:off x="45720" y="6986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Pandas intermedio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C9045-F019-CBA9-D1EE-63DC93F60A93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21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A72A9F-C16C-93E2-2A46-E0EBC1B62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45" r="1993" b="8415"/>
          <a:stretch>
            <a:fillRect/>
          </a:stretch>
        </p:blipFill>
        <p:spPr>
          <a:xfrm>
            <a:off x="2473377" y="1251825"/>
            <a:ext cx="7622160" cy="5468348"/>
          </a:xfrm>
          <a:prstGeom prst="rect">
            <a:avLst/>
          </a:prstGeom>
        </p:spPr>
      </p:pic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36FE0B19-E470-265E-1C60-13167A476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123D3C0-F088-4634-6B5D-A0DE2DB6EF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49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C49A1-1608-1493-B4B7-E65DEDEF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B580A8-72ED-FC06-552A-2924C927FEC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4CC1F-0829-31E7-DEB5-75D1636102DC}"/>
              </a:ext>
            </a:extLst>
          </p:cNvPr>
          <p:cNvSpPr txBox="1"/>
          <p:nvPr/>
        </p:nvSpPr>
        <p:spPr>
          <a:xfrm>
            <a:off x="45720" y="100001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Archivos para en </a:t>
            </a:r>
            <a:r>
              <a:rPr lang="es-ES" dirty="0" err="1"/>
              <a:t>Analisis</a:t>
            </a:r>
            <a:r>
              <a:rPr lang="es-ES" dirty="0"/>
              <a:t> de Datos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8B83F-FEF1-C615-931C-FCFC8754C58B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22</a:t>
            </a:r>
            <a:endParaRPr dirty="0"/>
          </a:p>
        </p:txBody>
      </p:sp>
      <p:pic>
        <p:nvPicPr>
          <p:cNvPr id="7" name="Imagen 6" descr="Sticker Tata Logo">
            <a:extLst>
              <a:ext uri="{FF2B5EF4-FFF2-40B4-BE49-F238E27FC236}">
                <a16:creationId xmlns:a16="http://schemas.microsoft.com/office/drawing/2014/main" id="{1D1D995A-ECF1-71B0-47FB-4BC3F6C4C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0B957F7-0B09-B131-BB76-3874E6BF7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09" y="1774156"/>
            <a:ext cx="10466875" cy="40914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00D5B2-397F-E927-BB47-0158520DD0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84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9AE1-F763-6963-E012-47BD4C92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3A791-9CAD-FE79-299E-E43FB7D1DE1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84832-9FED-E763-8291-DA9CA757392E}"/>
              </a:ext>
            </a:extLst>
          </p:cNvPr>
          <p:cNvSpPr txBox="1"/>
          <p:nvPr/>
        </p:nvSpPr>
        <p:spPr>
          <a:xfrm>
            <a:off x="297180" y="1039911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lang="es-ES" dirty="0"/>
              <a:t>Flujo básico para el </a:t>
            </a:r>
            <a:r>
              <a:rPr lang="es-ES" dirty="0" err="1"/>
              <a:t>Analisis</a:t>
            </a:r>
            <a:r>
              <a:rPr lang="es-ES" dirty="0"/>
              <a:t> de datos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9F39A-D033-E2AD-39B8-C8E8568AE53A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23</a:t>
            </a:r>
            <a:endParaRPr dirty="0"/>
          </a:p>
        </p:txBody>
      </p:sp>
      <p:pic>
        <p:nvPicPr>
          <p:cNvPr id="9" name="Imagen 8" descr="Sticker Tata Logo">
            <a:extLst>
              <a:ext uri="{FF2B5EF4-FFF2-40B4-BE49-F238E27FC236}">
                <a16:creationId xmlns:a16="http://schemas.microsoft.com/office/drawing/2014/main" id="{2A73C36E-24F3-4E4A-2303-D14E7200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1F5E4D4-EB70-F91C-5DA6-C301ABD139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070"/>
          <a:stretch>
            <a:fillRect/>
          </a:stretch>
        </p:blipFill>
        <p:spPr>
          <a:xfrm>
            <a:off x="1979816" y="2008682"/>
            <a:ext cx="8232367" cy="455142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631CC95-65D2-079B-0FD4-E2C9B81951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53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BBA5-3DC1-0858-A599-2BB1BEF5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5C95C0-E371-54B2-C978-08F1290E3FC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5014E-66B3-7E13-76B0-C557F55A5522}"/>
              </a:ext>
            </a:extLst>
          </p:cNvPr>
          <p:cNvSpPr txBox="1"/>
          <p:nvPr/>
        </p:nvSpPr>
        <p:spPr>
          <a:xfrm>
            <a:off x="502920" y="84414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comunes</a:t>
            </a:r>
            <a:r>
              <a:rPr dirty="0"/>
              <a:t> y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EE27C-DCFF-0046-4B58-8C5771AE6C4F}"/>
              </a:ext>
            </a:extLst>
          </p:cNvPr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24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FBC00-A102-F298-19F7-8A4A7FA7292C}"/>
              </a:ext>
            </a:extLst>
          </p:cNvPr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NameError: variable no definida o nombre escrito diferente.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TypeError: operación incompatible entre tipos.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IndentationError: bloque mal indentado.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Ejecuta las celdas en orden y reinicia/ejecuta todo si el estado se confunde.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Usa nombres claros, comentarios útiles y celdas pequeñas.</a:t>
            </a:r>
          </a:p>
        </p:txBody>
      </p:sp>
      <p:pic>
        <p:nvPicPr>
          <p:cNvPr id="9" name="Imagen 8" descr="Sticker Tata Logo">
            <a:extLst>
              <a:ext uri="{FF2B5EF4-FFF2-40B4-BE49-F238E27FC236}">
                <a16:creationId xmlns:a16="http://schemas.microsoft.com/office/drawing/2014/main" id="{9D753B12-F5F4-7B8D-82B7-E799818E6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964" y="198044"/>
            <a:ext cx="594361" cy="594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E554642-7E85-B601-0EE5-CD7190ED1F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23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0460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92A56"/>
                </a:solidFill>
                <a:latin typeface="Aptos"/>
              </a:defRPr>
            </a:pPr>
            <a:r>
              <a:rPr dirty="0" err="1"/>
              <a:t>Recapitulación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978"/>
                </a:solidFill>
                <a:latin typeface="Aptos"/>
              </a:defRPr>
            </a:pPr>
            <a:r>
              <a:rPr lang="es-ES" dirty="0"/>
              <a:t>25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Python es el </a:t>
            </a:r>
            <a:r>
              <a:rPr dirty="0" err="1"/>
              <a:t>lenguaje</a:t>
            </a:r>
            <a:r>
              <a:rPr dirty="0"/>
              <a:t>; Jupyter es el </a:t>
            </a:r>
            <a:r>
              <a:rPr dirty="0" err="1"/>
              <a:t>entorno</a:t>
            </a:r>
            <a:r>
              <a:rPr dirty="0"/>
              <a:t>/</a:t>
            </a:r>
            <a:r>
              <a:rPr dirty="0" err="1"/>
              <a:t>formato</a:t>
            </a:r>
            <a:r>
              <a:rPr dirty="0"/>
              <a:t> de notebooks; </a:t>
            </a:r>
            <a:r>
              <a:rPr dirty="0" err="1"/>
              <a:t>Colab</a:t>
            </a:r>
            <a:r>
              <a:rPr dirty="0"/>
              <a:t> es un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nube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Las variables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Condicionales</a:t>
            </a:r>
            <a:r>
              <a:rPr dirty="0"/>
              <a:t> y </a:t>
            </a:r>
            <a:r>
              <a:rPr dirty="0" err="1"/>
              <a:t>ciclos</a:t>
            </a:r>
            <a:r>
              <a:rPr dirty="0"/>
              <a:t> </a:t>
            </a:r>
            <a:r>
              <a:rPr dirty="0" err="1"/>
              <a:t>controlan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Las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encapsulan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reutilizable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Pandas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tablas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datos </a:t>
            </a:r>
            <a:r>
              <a:rPr dirty="0" err="1"/>
              <a:t>fáciles</a:t>
            </a:r>
            <a:r>
              <a:rPr dirty="0"/>
              <a:t> de </a:t>
            </a:r>
            <a:r>
              <a:rPr dirty="0" err="1"/>
              <a:t>explorar</a:t>
            </a:r>
            <a:r>
              <a:rPr dirty="0"/>
              <a:t> y </a:t>
            </a:r>
            <a:r>
              <a:rPr dirty="0" err="1"/>
              <a:t>analizar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Pregunta</a:t>
            </a:r>
            <a:r>
              <a:rPr dirty="0"/>
              <a:t> final: ¿</a:t>
            </a:r>
            <a:r>
              <a:rPr dirty="0" err="1"/>
              <a:t>qué</a:t>
            </a:r>
            <a:r>
              <a:rPr dirty="0"/>
              <a:t> </a:t>
            </a:r>
            <a:r>
              <a:rPr lang="es-ES" dirty="0"/>
              <a:t>base de datos puedes trabajar y que pregunta debes de responder</a:t>
            </a:r>
            <a:r>
              <a:rPr dirty="0"/>
              <a:t>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AAADCB9-D0C1-1D93-4650-BCE0F88E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393" r="1563" b="38422"/>
          <a:stretch>
            <a:fillRect/>
          </a:stretch>
        </p:blipFill>
        <p:spPr>
          <a:xfrm>
            <a:off x="189675" y="198044"/>
            <a:ext cx="1937711" cy="396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3356</TotalTime>
  <Words>1420</Words>
  <Application>Microsoft Office PowerPoint</Application>
  <PresentationFormat>Panorámica</PresentationFormat>
  <Paragraphs>117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Vazquez Ramirez</cp:lastModifiedBy>
  <cp:revision>5</cp:revision>
  <dcterms:created xsi:type="dcterms:W3CDTF">2013-01-27T09:14:16Z</dcterms:created>
  <dcterms:modified xsi:type="dcterms:W3CDTF">2026-10-26T16:09:17Z</dcterms:modified>
  <cp:category/>
</cp:coreProperties>
</file>